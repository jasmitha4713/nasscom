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67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194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ata-analysis/what-is-exploratory-data-analysis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umpy/python-numpy/" TargetMode="External"/><Relationship Id="rId2" Type="http://schemas.openxmlformats.org/officeDocument/2006/relationships/hyperlink" Target="https://www.geeksforgeeks.org/pandas/introduction-to-pandas-in-python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oom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4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 &amp; Preprocessing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Messy Data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missing values · duplicates · data types · outliers · messy text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U8  ·  Phase C  ·  Day 4  (preprocessing for ML follows in Part 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o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Garbage in, garbage out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 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 — missing values, duplicates, wrong types, outliers and typos. A model is only as good as the data it learns from, so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comes first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magnif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quality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what's wrong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eras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handle gaps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cl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types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&amp; fix dtypes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war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treat extremes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alig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categories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U7 got the data in. Now we make it trustworthy before any analysis or modelling.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the problems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anything, profile the data — what's missing, what's malformed, and what looks wrong.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1 · Phase C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C50FF-E529-7656-DAA1-34C17E12029B}"/>
              </a:ext>
            </a:extLst>
          </p:cNvPr>
          <p:cNvSpPr txBox="1"/>
          <p:nvPr/>
        </p:nvSpPr>
        <p:spPr>
          <a:xfrm>
            <a:off x="394447" y="1173255"/>
            <a:ext cx="11412071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25"/>
              </a:lnSpc>
              <a:spcBef>
                <a:spcPts val="1650"/>
              </a:spcBef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  <a:t>Data Cleaning</a:t>
            </a:r>
          </a:p>
          <a:p>
            <a:pPr algn="l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cleaning is the process of preparing raw data by detecting and correcting errors so it can be effectively used for analysis. It is a foundational step in data preprocessing that ensures datasets are suitable for analytical, statistical and machine learning tasks.</a:t>
            </a:r>
          </a:p>
          <a:p>
            <a:pPr algn="l" fontAlgn="base">
              <a:spcBef>
                <a:spcPts val="7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Raw data is often noisy, incomplete and inconsistent which can negatively impact the accuracy of the model.</a:t>
            </a:r>
          </a:p>
          <a:p>
            <a:pPr algn="l" fontAlgn="base">
              <a:spcBef>
                <a:spcPts val="7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Clean datasets are also important in </a:t>
            </a:r>
            <a:r>
              <a:rPr lang="en-US" b="0" i="0" u="sng" dirty="0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EDA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(Exploratory Data Analysis), which enhances the interpretability of data so that the right actions can be taken based on insights.</a:t>
            </a:r>
          </a:p>
        </p:txBody>
      </p:sp>
    </p:spTree>
    <p:extLst>
      <p:ext uri="{BB962C8B-B14F-4D97-AF65-F5344CB8AC3E}">
        <p14:creationId xmlns:p14="http://schemas.microsoft.com/office/powerpoint/2010/main" val="31990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C83FD1-ED7A-64E5-3A04-28891577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968188"/>
            <a:ext cx="6185647" cy="51726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2DA312-D982-602D-1EA3-5450F7AE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30" y="968188"/>
            <a:ext cx="5271248" cy="50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4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14AFD6-7FC9-1B95-2CD4-830E3B76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" y="457200"/>
            <a:ext cx="5853953" cy="57643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B3CB79-C931-4279-8F3B-C93D96427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847" y="457199"/>
            <a:ext cx="5029200" cy="5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9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sk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LOOK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Data-quality dimensions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064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76656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values missing?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46704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74720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type &amp; range?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44768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alig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1031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72784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thing, same way?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42832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lo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56" y="210312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70848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duplicates?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365760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94944" y="3803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1"/>
          <p:cNvSpPr/>
          <p:nvPr/>
        </p:nvSpPr>
        <p:spPr>
          <a:xfrm>
            <a:off x="841248" y="380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2"/>
          <p:cNvSpPr/>
          <p:nvPr/>
        </p:nvSpPr>
        <p:spPr>
          <a:xfrm>
            <a:off x="987552" y="3803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3"/>
          <p:cNvSpPr/>
          <p:nvPr/>
        </p:nvSpPr>
        <p:spPr>
          <a:xfrm>
            <a:off x="1188720" y="37307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profile.py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749808" y="4041648"/>
            <a:ext cx="5998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# types + non-null counts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# missing per column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# ranges, spot odd min/max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# duplicate rows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7132320" y="3657600"/>
            <a:ext cx="4507992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/>
        </p:spPr>
      </p:sp>
      <p:sp>
        <p:nvSpPr>
          <p:cNvPr id="33" name="Text 26"/>
          <p:cNvSpPr/>
          <p:nvPr/>
        </p:nvSpPr>
        <p:spPr>
          <a:xfrm>
            <a:off x="7333488" y="3767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profile first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333488" y="40782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commands reveal most problems before you write a single fix.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6" name="Shape 2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7" name="Image 5" descr="ic_flas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messy dataset: run info(), isna().sum() and describe(); list the problems you find.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era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GAPS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values: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appear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collected, lost, or 'not applicable'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disguises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NaN, None, empty string, 'N/A', -1, 999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df.isna().sum() per column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percentage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df.isna().mean() — how bad is each column?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detect_missing.py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treat sentinel values as missing first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df.replace(['N/A', '', -1], np.nan)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# count per column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df.isna().mean().round(2)  # fraction missing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df[df['age'].isna()]     # rows missing 'age'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missing values per column and as a percentage; convert sentinel values to NaN.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battle is recognising disguised missing values before they corrupt your stats.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DECIDE WHAT TO DO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values: handling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ra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10312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4672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rows/cols when data is plentiful or a column is mostly empty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4672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46704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3621024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2" descr="ic_fi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1031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02736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602736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numeric with mean/median, categorical with the mode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602736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df.fillna(df.median())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44768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19088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alig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10312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/ back fill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0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last value forward — good for time series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0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df.ffill()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942832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9217152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4" descr="ic_task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210312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98864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198864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'is_missing' column so the model can use the signal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198864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df['x'].isna()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4370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beats mean for skewed columns; never impute the target you're trying to predict.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2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3" name="Image 5" descr="ic_flas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three ways (drop, mean-impute, median-impute) and compare the results.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bro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the data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repair what profiling revealed: duplicates, wrong types, extreme outliers and inconsistent text.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1 · Phase C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&amp; RETYPE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Duplicates &amp; data types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874520"/>
            <a:ext cx="566928" cy="56692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l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116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92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rows skew counts &amp; bias models. Find and drop them.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749808" y="3364992"/>
            <a:ext cx="566928" cy="56692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0215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826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63040" y="35935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text, dates as strings — convert so maths &amp; sorting work.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1664208"/>
            <a:ext cx="5513832" cy="2953512"/>
          </a:xfrm>
          <a:prstGeom prst="roundRect">
            <a:avLst>
              <a:gd name="adj" fmla="val 1858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fix_dupes_types.py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27648" y="2048256"/>
            <a:ext cx="51114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duplicates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   # how many?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types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pd.to_numeric(df['price'],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errors='coerce')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df['cat'] = df['cat'].astype('category')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 # verify the fixes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3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rows, then convert a text column to numeric and a column to datetime.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EXTREME VALUES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Detecting &amp; handling outliers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outside Q1−1.5·IQR or Q3+1.5·IQR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than ~3 std-devs from the mean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026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169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decide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 · cap (winsorise) · or transform (log)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850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75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Judge, don't delete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outlier may be the most important signal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33172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792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rule, drawn as a box plot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66560" y="2743200"/>
            <a:ext cx="3291840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2377440"/>
            <a:ext cx="1463040" cy="731520"/>
          </a:xfrm>
          <a:prstGeom prst="rect">
            <a:avLst/>
          </a:prstGeom>
          <a:solidFill>
            <a:srgbClr val="2D6A9F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377440"/>
            <a:ext cx="0" cy="7315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2542032"/>
            <a:ext cx="0" cy="402336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542032"/>
            <a:ext cx="0" cy="402336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082528" y="2670048"/>
            <a:ext cx="146304" cy="146304"/>
          </a:xfrm>
          <a:prstGeom prst="ellipse">
            <a:avLst/>
          </a:prstGeom>
          <a:solidFill>
            <a:srgbClr val="D7472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2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09360" y="36118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 = 1.5 × IQR; points beyond are flagged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in a numeric column with the IQR rule and decide how to treat them.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alig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STRINGS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Messy text &amp; inconsistent categories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category, written five ways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38528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48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340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Pune "  ·  "pune"  ·  "PUNE"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 "  ·  "Pune."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4846320" cy="0"/>
          </a:xfrm>
          <a:prstGeom prst="line">
            <a:avLst/>
          </a:prstGeom>
          <a:noFill/>
          <a:ln w="12700">
            <a:solidFill>
              <a:srgbClr val="E3B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3785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6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"pune"  (one clean category)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938528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9944" y="20848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6248" y="20848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702552" y="20848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201168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clean_text.py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64808" y="2322576"/>
            <a:ext cx="497433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df['city']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s.str.strip()        # trim whitespace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s.str.lower()        # unify case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s.str.replace('.', '', regex=False)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 known variants to one label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s.replace({'bombay': 'mumbai'})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 = 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df['city'].value_counts()  # verify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 split one real category into many — wrecking counts, joins and encodings.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 messy text column with str methods and a value mapping.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data before fixing anything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 values — even disguised ones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or impute gaps; flag when useful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duplicates; fix wrong data types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outliers; standardise messy text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messy CSV and list its problems</a:t>
            </a:r>
            <a:endParaRPr lang="en-US" sz="115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sentinels to NaN; count missingness</a:t>
            </a:r>
            <a:endParaRPr lang="en-US" sz="115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gaps 3 ways and compare</a:t>
            </a:r>
            <a:endParaRPr lang="en-US" sz="115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duplicates; fix a numeric &amp; a date column</a:t>
            </a:r>
            <a:endParaRPr lang="en-US" sz="115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IQR outliers; standardise a text column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broom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categoricals — label &amp; one-hot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broom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— normalise &amp; standardise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broom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basics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roo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the highest-leverage work in ML. Time spent here saves far more time debugging models later.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4A7E2-F21E-856B-42A0-1BFC347A3FF9}"/>
              </a:ext>
            </a:extLst>
          </p:cNvPr>
          <p:cNvSpPr txBox="1"/>
          <p:nvPr/>
        </p:nvSpPr>
        <p:spPr>
          <a:xfrm>
            <a:off x="242047" y="165230"/>
            <a:ext cx="9144000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Implementation for Data Cleaning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Let's understand each step for Database Cleaning using titanic dataset.</a:t>
            </a:r>
          </a:p>
          <a:p>
            <a:pPr algn="l" rtl="0" fontAlgn="base">
              <a:spcAft>
                <a:spcPts val="750"/>
              </a:spcAft>
              <a:buNone/>
            </a:pP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fontAlgn="base"/>
            <a:r>
              <a:rPr lang="en-US" b="1" dirty="0"/>
              <a:t>Step 1: Import Libraries and Load Dataset</a:t>
            </a:r>
          </a:p>
          <a:p>
            <a:pPr fontAlgn="base"/>
            <a:r>
              <a:rPr lang="en-US" dirty="0"/>
              <a:t>We will import all the necessary libraries 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u="sng" dirty="0">
                <a:hlinkClick r:id="rId2"/>
              </a:rPr>
              <a:t>pandas </a:t>
            </a:r>
            <a:r>
              <a:rPr lang="en-US" dirty="0"/>
              <a:t>and </a:t>
            </a:r>
            <a:r>
              <a:rPr lang="en-US" u="sng" dirty="0" err="1">
                <a:hlinkClick r:id="rId3"/>
              </a:rPr>
              <a:t>numpy</a:t>
            </a:r>
            <a:r>
              <a:rPr lang="en-US" dirty="0"/>
              <a:t>.</a:t>
            </a:r>
          </a:p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F98A4-DC8A-E026-0150-92A94384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06" y="2034988"/>
            <a:ext cx="6777318" cy="1992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DE69B8-2605-F78C-995A-90CECAABA3AE}"/>
              </a:ext>
            </a:extLst>
          </p:cNvPr>
          <p:cNvSpPr txBox="1"/>
          <p:nvPr/>
        </p:nvSpPr>
        <p:spPr>
          <a:xfrm>
            <a:off x="304800" y="4272189"/>
            <a:ext cx="6902824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Step 2: Check for Duplicate Rows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df.duplicated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()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Returns a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boolean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Series indicating duplicate rows.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2F8A71-97CD-1434-E491-C400A0655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436" y="871142"/>
            <a:ext cx="5226423" cy="464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5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E6C8D-A715-82E2-9F0F-CCCC6451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493059"/>
            <a:ext cx="8807872" cy="2366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70D6D-71E3-3ECE-665C-D5A258147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03" y="3027948"/>
            <a:ext cx="9695444" cy="299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47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F32FB4-2EDA-6544-83D5-778110DA2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43" y="571251"/>
            <a:ext cx="10392283" cy="35525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778D62-FDC4-B0E0-A5C6-1373AB17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43" y="4292013"/>
            <a:ext cx="10491086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5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1389</Words>
  <Application>Microsoft Office PowerPoint</Application>
  <PresentationFormat>Widescreen</PresentationFormat>
  <Paragraphs>189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Schoolbook</vt:lpstr>
      <vt:lpstr>Courier New</vt:lpstr>
      <vt:lpstr>Nunito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suneetha</cp:lastModifiedBy>
  <cp:revision>12</cp:revision>
  <dcterms:created xsi:type="dcterms:W3CDTF">2026-06-10T16:09:48Z</dcterms:created>
  <dcterms:modified xsi:type="dcterms:W3CDTF">2026-09-17T09:01:07Z</dcterms:modified>
</cp:coreProperties>
</file>